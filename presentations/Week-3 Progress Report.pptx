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embeddedFontLst>
    <p:embeddedFont>
      <p:font typeface="Fraunces Light"/>
      <p:regular r:id="rId201314"/>
    </p:embeddedFont>
    <p:embeddedFont>
      <p:font typeface="Fraunces Thin"/>
      <p:regular r:id="rId201315"/>
    </p:embeddedFont>
    <p:embeddedFont>
      <p:font typeface="Fraunces ExtraLight"/>
      <p:regular r:id="rId201316"/>
    </p:embeddedFont>
    <p:embeddedFont>
      <p:font typeface="Fraunces"/>
      <p:regular r:id="rId201317"/>
    </p:embeddedFont>
    <p:embeddedFont>
      <p:font typeface="Fraunces Medium"/>
      <p:regular r:id="rId201318"/>
    </p:embeddedFont>
    <p:embeddedFont>
      <p:font typeface="Fraunces SemiBold"/>
      <p:regular r:id="rId201319"/>
    </p:embeddedFont>
    <p:embeddedFont>
      <p:font typeface="Fraunces Bold"/>
      <p:regular r:id="rId201320"/>
    </p:embeddedFont>
    <p:embeddedFont>
      <p:font typeface="Fraunces ExtraBold"/>
      <p:regular r:id="rId201321"/>
    </p:embeddedFont>
    <p:embeddedFont>
      <p:font typeface="Fraunces Black"/>
      <p:regular r:id="rId201322"/>
    </p:embeddedFont>
    <p:embeddedFont>
      <p:font typeface="Nobile"/>
      <p:regular r:id="rId201323"/>
    </p:embeddedFont>
    <p:embeddedFont>
      <p:font typeface="Nobile Medium"/>
      <p:regular r:id="rId201324"/>
    </p:embeddedFont>
    <p:embeddedFont>
      <p:font typeface="Nobile Bold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image" Target="../media/image-5-1.png"/><Relationship Id="rId12" Type="http://schemas.openxmlformats.org/officeDocument/2006/relationships/image" Target="../media/image-5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377181"/>
            <a:ext cx="1677219" cy="266402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419671"/>
            <a:ext cx="196430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WEEK 3 PROGRESS REPORT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70028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GenAI Carbon Footprint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199977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Research Internship — Weekly Update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96119" y="2766938"/>
            <a:ext cx="8151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Moteba Rehman</a:t>
            </a:r>
            <a:pPr algn="ctr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Research Intern</a:t>
            </a:r>
            <a:endParaRPr lang="en-US" sz="110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Supervisor: </a:t>
            </a:r>
            <a:pPr algn="ctr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Ms. Zahida Kausar</a:t>
            </a:r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· Faculty Coordinator: </a:t>
            </a:r>
            <a:pPr algn="ctr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Dr. Mehwish Fatima</a:t>
            </a:r>
            <a:endParaRPr lang="en-US" sz="110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29 June – 3 July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329"/>
            <a:ext cx="815176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96119" y="608781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Work Completed During Week 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67519" y="1096714"/>
            <a:ext cx="86089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From presenting initial findings to expanding experiments and applying optimisation techniques across multiple models.</a:t>
            </a:r>
            <a:endParaRPr lang="en-US" sz="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360289"/>
            <a:ext cx="7890644" cy="296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02209" y="3487797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Update Repos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502299" y="3487797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Re-run &amp; Compare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10540" y="3373164"/>
            <a:ext cx="1190146" cy="687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Apply Quantization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518781" y="3487797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Expand Profiling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94415" y="3487797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Present Results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6119" y="4422428"/>
            <a:ext cx="8151763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step built upon the previous week's foundation, broadening the scope from two models to four and introducing quantisation as an optimisation strategy.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395"/>
            <a:ext cx="815176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EXPERIMENTS &amp; FINDINGS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96119" y="592336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Energy Profiling &amp; Quantisation Results</a:t>
            </a:r>
            <a:endParaRPr lang="en-US" sz="2050" dirty="0"/>
          </a:p>
        </p:txBody>
      </p:sp>
      <p:sp>
        <p:nvSpPr>
          <p:cNvPr id="4" name="Shape 2"/>
          <p:cNvSpPr/>
          <p:nvPr/>
        </p:nvSpPr>
        <p:spPr>
          <a:xfrm>
            <a:off x="496119" y="2100783"/>
            <a:ext cx="2143497" cy="904801"/>
          </a:xfrm>
          <a:prstGeom prst="roundRect">
            <a:avLst>
              <a:gd name="adj" fmla="val 10576"/>
            </a:avLst>
          </a:prstGeom>
          <a:solidFill>
            <a:srgbClr val="E8F3E8"/>
          </a:solidFill>
          <a:ln/>
        </p:spPr>
      </p:sp>
      <p:sp>
        <p:nvSpPr>
          <p:cNvPr id="5" name="Text 3"/>
          <p:cNvSpPr/>
          <p:nvPr/>
        </p:nvSpPr>
        <p:spPr>
          <a:xfrm>
            <a:off x="602382" y="2207047"/>
            <a:ext cx="193097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Models Evaluated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2382" y="2452836"/>
            <a:ext cx="193097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GPT-2 · LLaMA · Qwen · Mistral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19313" y="2100783"/>
            <a:ext cx="2143497" cy="904801"/>
          </a:xfrm>
          <a:prstGeom prst="roundRect">
            <a:avLst>
              <a:gd name="adj" fmla="val 10576"/>
            </a:avLst>
          </a:prstGeom>
          <a:solidFill>
            <a:srgbClr val="E8F3E8"/>
          </a:solidFill>
          <a:ln/>
        </p:spPr>
      </p:sp>
      <p:sp>
        <p:nvSpPr>
          <p:cNvPr id="8" name="Text 6"/>
          <p:cNvSpPr/>
          <p:nvPr/>
        </p:nvSpPr>
        <p:spPr>
          <a:xfrm>
            <a:off x="2825576" y="2207047"/>
            <a:ext cx="193097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Methods &amp; Tools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25576" y="2452836"/>
            <a:ext cx="1930971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Hugging Face Transformers · CodeCarbon · bitsandbytes (INT8/INT4)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96119" y="3085281"/>
            <a:ext cx="4366692" cy="607144"/>
          </a:xfrm>
          <a:prstGeom prst="roundRect">
            <a:avLst>
              <a:gd name="adj" fmla="val 15761"/>
            </a:avLst>
          </a:prstGeom>
          <a:solidFill>
            <a:srgbClr val="E8F3E8"/>
          </a:solidFill>
          <a:ln/>
        </p:spPr>
      </p:sp>
      <p:sp>
        <p:nvSpPr>
          <p:cNvPr id="11" name="Text 9"/>
          <p:cNvSpPr/>
          <p:nvPr/>
        </p:nvSpPr>
        <p:spPr>
          <a:xfrm>
            <a:off x="602382" y="3191545"/>
            <a:ext cx="415416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Metrics Collected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2382" y="3437334"/>
            <a:ext cx="415416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Runtime · Energy consumption · CO₂ emissions · Hardware utilisation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6980" y="1133847"/>
            <a:ext cx="3525589" cy="35255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2311"/>
            <a:ext cx="472276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OBSERVATIONS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496119" y="665262"/>
            <a:ext cx="4722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What the Data Showed</a:t>
            </a:r>
            <a:endParaRPr lang="en-US" sz="2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07381"/>
            <a:ext cx="348853" cy="3488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16645" y="1307381"/>
            <a:ext cx="420223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Model Scale Matters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016645" y="1607790"/>
            <a:ext cx="4202237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Larger models consistently required more computational resources, resulting in higher energy consumption and emissions during inference.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546896"/>
            <a:ext cx="348853" cy="34885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16645" y="2546896"/>
            <a:ext cx="420223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Quantisation Reduces Energy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1016645" y="2847305"/>
            <a:ext cx="4202237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Both INT8 and INT4 quantised models consumed significantly less energy than their full-precision counterparts, with measurable CO₂ reductions.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786411"/>
            <a:ext cx="348853" cy="34885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16645" y="3786411"/>
            <a:ext cx="420223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Usability Preserved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1016645" y="4086820"/>
            <a:ext cx="4202237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Quantisation improved inference efficiency while maintaining practical usability — output quality remained acceptable for downstream tasks.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1527"/>
            <a:ext cx="815176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DELIVERABLES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96119" y="596652"/>
            <a:ext cx="8151763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Project Outputs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267519" y="967606"/>
            <a:ext cx="860896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All code, reports, and results have been documented and shared across open-source platforms for reproducibility.</a:t>
            </a:r>
            <a:endParaRPr lang="en-US" sz="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52153"/>
            <a:ext cx="8151763" cy="5448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9125" y="1339453"/>
            <a:ext cx="136178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26976" y="1252463"/>
            <a:ext cx="7620595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Profiling Scripts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26976" y="1429271"/>
            <a:ext cx="7620595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Qwen &amp; Mistral energy profiling code</a:t>
            </a:r>
            <a:endParaRPr lang="en-US" sz="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755130"/>
            <a:ext cx="8151763" cy="5448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9125" y="1942430"/>
            <a:ext cx="136178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26976" y="1855440"/>
            <a:ext cx="7620595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Quantisation Code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926976" y="2032248"/>
            <a:ext cx="7620595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INT8 / INT4 implementation using bitsandbytes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358107"/>
            <a:ext cx="8151763" cy="5448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9125" y="2545407"/>
            <a:ext cx="136178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926976" y="2458417"/>
            <a:ext cx="7620595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Comparison Tables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926976" y="2635225"/>
            <a:ext cx="7620595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Energy and CO₂ metrics across all models</a:t>
            </a:r>
            <a:endParaRPr lang="en-US" sz="7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961084"/>
            <a:ext cx="8151763" cy="5448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9125" y="3148385"/>
            <a:ext cx="136178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926976" y="3061395"/>
            <a:ext cx="7620595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Before vs After Analysis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926976" y="3238202"/>
            <a:ext cx="7620595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Full-precision vs quantised performance</a:t>
            </a:r>
            <a:endParaRPr lang="en-US" sz="7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564062"/>
            <a:ext cx="8151763" cy="5448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125" y="3751362"/>
            <a:ext cx="136178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926976" y="3664372"/>
            <a:ext cx="7620595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Findings Report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926976" y="3841179"/>
            <a:ext cx="7620595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Summary of Week 3 results and insights</a:t>
            </a:r>
            <a:endParaRPr lang="en-US" sz="7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6119" y="4167039"/>
            <a:ext cx="8151763" cy="5448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19125" y="4354339"/>
            <a:ext cx="136178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6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926976" y="4267349"/>
            <a:ext cx="7620595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Platform Updates</a:t>
            </a:r>
            <a:endParaRPr lang="en-US" sz="850" dirty="0"/>
          </a:p>
        </p:txBody>
      </p:sp>
      <p:sp>
        <p:nvSpPr>
          <p:cNvPr id="28" name="Text 20"/>
          <p:cNvSpPr/>
          <p:nvPr/>
        </p:nvSpPr>
        <p:spPr>
          <a:xfrm>
            <a:off x="926976" y="4444157"/>
            <a:ext cx="7620595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GitHub, Hugging Face, and Kaggle refreshed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1006"/>
            <a:ext cx="4722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REFLECTION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925119" y="638621"/>
            <a:ext cx="4722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Learnings</a:t>
            </a:r>
            <a:endParaRPr lang="en-US" sz="2150" dirty="0"/>
          </a:p>
        </p:txBody>
      </p:sp>
      <p:sp>
        <p:nvSpPr>
          <p:cNvPr id="5" name="Shape 2"/>
          <p:cNvSpPr/>
          <p:nvPr/>
        </p:nvSpPr>
        <p:spPr>
          <a:xfrm>
            <a:off x="3925119" y="1114499"/>
            <a:ext cx="249138" cy="249138"/>
          </a:xfrm>
          <a:prstGeom prst="roundRect">
            <a:avLst>
              <a:gd name="adj" fmla="val 40010"/>
            </a:avLst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4260726" y="1152525"/>
            <a:ext cx="4387155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Cross-Model Energy Awareness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260726" y="1377404"/>
            <a:ext cx="4387155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Learned how energy consumption varies across multiple open-source LLMs under identical workloads.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925119" y="1865933"/>
            <a:ext cx="249138" cy="249138"/>
          </a:xfrm>
          <a:prstGeom prst="roundRect">
            <a:avLst>
              <a:gd name="adj" fmla="val 40010"/>
            </a:avLst>
          </a:prstGeom>
          <a:solidFill>
            <a:srgbClr val="E8F3E8"/>
          </a:solidFill>
          <a:ln/>
        </p:spPr>
      </p:sp>
      <p:sp>
        <p:nvSpPr>
          <p:cNvPr id="9" name="Text 6"/>
          <p:cNvSpPr/>
          <p:nvPr/>
        </p:nvSpPr>
        <p:spPr>
          <a:xfrm>
            <a:off x="4260726" y="1903958"/>
            <a:ext cx="4387155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Hands-On Quantisation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260726" y="2128838"/>
            <a:ext cx="4387155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Gained practical experience applying INT8 and INT4 quantisation to reduce model footprint without breaking usability.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925119" y="2617366"/>
            <a:ext cx="249138" cy="249138"/>
          </a:xfrm>
          <a:prstGeom prst="roundRect">
            <a:avLst>
              <a:gd name="adj" fmla="val 40010"/>
            </a:avLst>
          </a:prstGeom>
          <a:solidFill>
            <a:srgbClr val="E8F3E8"/>
          </a:solidFill>
          <a:ln/>
        </p:spPr>
      </p:sp>
      <p:sp>
        <p:nvSpPr>
          <p:cNvPr id="12" name="Text 9"/>
          <p:cNvSpPr/>
          <p:nvPr/>
        </p:nvSpPr>
        <p:spPr>
          <a:xfrm>
            <a:off x="4260726" y="2655391"/>
            <a:ext cx="4387155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Optimisation for Sustainability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260726" y="2880271"/>
            <a:ext cx="4387155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Observed first-hand how optimisation techniques can meaningfully reduce AI energy usage and carbon emissions.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925119" y="3368799"/>
            <a:ext cx="249138" cy="249138"/>
          </a:xfrm>
          <a:prstGeom prst="roundRect">
            <a:avLst>
              <a:gd name="adj" fmla="val 40010"/>
            </a:avLst>
          </a:prstGeom>
          <a:solidFill>
            <a:srgbClr val="E8F3E8"/>
          </a:solidFill>
          <a:ln/>
        </p:spPr>
      </p:sp>
      <p:sp>
        <p:nvSpPr>
          <p:cNvPr id="15" name="Text 12"/>
          <p:cNvSpPr/>
          <p:nvPr/>
        </p:nvSpPr>
        <p:spPr>
          <a:xfrm>
            <a:off x="4260726" y="3406825"/>
            <a:ext cx="4387155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Research Discipline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260726" y="3631704"/>
            <a:ext cx="4387155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Improved skills in experimental analysis, reproducibility, and structured research documentation.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925119" y="4044553"/>
            <a:ext cx="14288" cy="667941"/>
          </a:xfrm>
          <a:prstGeom prst="roundRect">
            <a:avLst>
              <a:gd name="adj" fmla="val 59998"/>
            </a:avLst>
          </a:prstGeom>
          <a:solidFill>
            <a:srgbClr val="438951"/>
          </a:solidFill>
          <a:ln/>
        </p:spPr>
      </p:sp>
      <p:sp>
        <p:nvSpPr>
          <p:cNvPr id="18" name="Text 15"/>
          <p:cNvSpPr/>
          <p:nvPr/>
        </p:nvSpPr>
        <p:spPr>
          <a:xfrm>
            <a:off x="4091211" y="4141887"/>
            <a:ext cx="4556671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"Week 3 expanded the project from measuring AI energy consumption to exploring practical optimisation techniques that support more sustainable and environmentally efficient Generative AI systems."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2026-07-08T03:50:54Z</dcterms:created>
  <dcterms:modified xsi:type="dcterms:W3CDTF">2026-07-08T03:50:54Z</dcterms:modified>
</cp:coreProperties>
</file>